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8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51DA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46" y="-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D807C7-4C47-44B0-8F22-0F95661F2CDF}" type="doc">
      <dgm:prSet loTypeId="urn:microsoft.com/office/officeart/2005/8/layout/process2" loCatId="process" qsTypeId="urn:microsoft.com/office/officeart/2005/8/quickstyle/3d5" qsCatId="3D" csTypeId="urn:microsoft.com/office/officeart/2005/8/colors/accent1_2" csCatId="accent1" phldr="1"/>
      <dgm:spPr/>
    </dgm:pt>
    <dgm:pt modelId="{FC99CD1D-7749-44C5-A861-14581E3F6DCA}">
      <dgm:prSet phldrT="[Text]"/>
      <dgm:spPr/>
      <dgm:t>
        <a:bodyPr/>
        <a:lstStyle/>
        <a:p>
          <a:r>
            <a:rPr lang="en-US" dirty="0" smtClean="0">
              <a:latin typeface="+mj-lt"/>
            </a:rPr>
            <a:t>Raw Dataset</a:t>
          </a:r>
          <a:endParaRPr lang="en-US" dirty="0">
            <a:latin typeface="+mj-lt"/>
          </a:endParaRPr>
        </a:p>
      </dgm:t>
    </dgm:pt>
    <dgm:pt modelId="{81D66883-08D6-4280-8CF8-015330237ABD}" type="parTrans" cxnId="{5F9CA582-45E6-41C0-9578-49BE747487C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F53FA68A-EEE4-43FB-922E-4D3D09B6734D}" type="sibTrans" cxnId="{5F9CA582-45E6-41C0-9578-49BE747487C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33C82A17-8BED-462A-B826-03DB395FB19F}">
      <dgm:prSet phldrT="[Text]"/>
      <dgm:spPr/>
      <dgm:t>
        <a:bodyPr/>
        <a:lstStyle/>
        <a:p>
          <a:r>
            <a:rPr lang="en-US" dirty="0" smtClean="0">
              <a:latin typeface="+mj-lt"/>
            </a:rPr>
            <a:t>Python Data Cleaning</a:t>
          </a:r>
          <a:endParaRPr lang="en-US" dirty="0">
            <a:latin typeface="+mj-lt"/>
          </a:endParaRPr>
        </a:p>
      </dgm:t>
    </dgm:pt>
    <dgm:pt modelId="{8107DCE3-F4B2-4814-A8F4-2F73AC5B1463}" type="parTrans" cxnId="{285101BE-3ADC-478A-B982-C385656F7B44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36488A66-6B4B-497A-B94A-AE2A34782E1C}" type="sibTrans" cxnId="{285101BE-3ADC-478A-B982-C385656F7B44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E4EBBA2A-6450-4819-B034-F85B187F8869}">
      <dgm:prSet phldrT="[Text]"/>
      <dgm:spPr/>
      <dgm:t>
        <a:bodyPr/>
        <a:lstStyle/>
        <a:p>
          <a:r>
            <a:rPr lang="en-US" dirty="0" smtClean="0">
              <a:latin typeface="+mj-lt"/>
            </a:rPr>
            <a:t>Excel Analysis</a:t>
          </a:r>
          <a:endParaRPr lang="en-US" dirty="0">
            <a:latin typeface="+mj-lt"/>
          </a:endParaRPr>
        </a:p>
      </dgm:t>
    </dgm:pt>
    <dgm:pt modelId="{1823395B-D911-4CBF-A64B-253FF89F1340}" type="parTrans" cxnId="{527FD6BE-3A4A-4F78-8913-B800503BF75F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472B5184-F121-498D-B3E7-DBDF2B328AE2}" type="sibTrans" cxnId="{527FD6BE-3A4A-4F78-8913-B800503BF75F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886C6708-978A-48F4-A3F2-8F9AD3903753}">
      <dgm:prSet/>
      <dgm:spPr/>
      <dgm:t>
        <a:bodyPr/>
        <a:lstStyle/>
        <a:p>
          <a:r>
            <a:rPr lang="en-US" dirty="0" smtClean="0">
              <a:latin typeface="+mj-lt"/>
            </a:rPr>
            <a:t>SQL Queries</a:t>
          </a:r>
          <a:endParaRPr lang="en-US" dirty="0">
            <a:latin typeface="+mj-lt"/>
          </a:endParaRPr>
        </a:p>
      </dgm:t>
    </dgm:pt>
    <dgm:pt modelId="{2B06540D-2283-4F6E-A595-0D641F42524A}" type="parTrans" cxnId="{427A25BB-3511-484A-AEC9-F47137A91C6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B88FAE65-F6E7-45B1-BA31-524A3684BDDF}" type="sibTrans" cxnId="{427A25BB-3511-484A-AEC9-F47137A91C6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B73E886D-65C9-405B-A43B-77C335C042EA}">
      <dgm:prSet/>
      <dgm:spPr/>
      <dgm:t>
        <a:bodyPr/>
        <a:lstStyle/>
        <a:p>
          <a:r>
            <a:rPr lang="en-US" dirty="0" smtClean="0">
              <a:latin typeface="+mj-lt"/>
            </a:rPr>
            <a:t>Power BI Dashboard</a:t>
          </a:r>
          <a:endParaRPr lang="en-US" dirty="0">
            <a:latin typeface="+mj-lt"/>
          </a:endParaRPr>
        </a:p>
      </dgm:t>
    </dgm:pt>
    <dgm:pt modelId="{CA8C9AAD-57F4-471B-AC36-A0D6BC677684}" type="parTrans" cxnId="{8EF985B9-DD13-4382-8EDA-A0EB098D4137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C908879D-77C7-46EC-B2C3-D0820C94F566}" type="sibTrans" cxnId="{8EF985B9-DD13-4382-8EDA-A0EB098D4137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F734A2DA-AA98-4DA1-823C-D2D09DC67AFA}">
      <dgm:prSet/>
      <dgm:spPr/>
      <dgm:t>
        <a:bodyPr/>
        <a:lstStyle/>
        <a:p>
          <a:r>
            <a:rPr lang="en-US" dirty="0" smtClean="0">
              <a:latin typeface="+mj-lt"/>
            </a:rPr>
            <a:t>Insights &amp; Recommendations</a:t>
          </a:r>
          <a:endParaRPr lang="en-US" dirty="0">
            <a:latin typeface="+mj-lt"/>
          </a:endParaRPr>
        </a:p>
      </dgm:t>
    </dgm:pt>
    <dgm:pt modelId="{5282F105-D405-49E4-BDBF-6B5F25B2FD65}" type="parTrans" cxnId="{FCBC79DC-02B9-4D40-B269-CA589C87BCF1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51FFB55E-C918-4E4A-AF11-B6E3CFF24D24}" type="sibTrans" cxnId="{FCBC79DC-02B9-4D40-B269-CA589C87BCF1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357CC326-A40D-4166-A7ED-E9C4D4A1CF0E}" type="pres">
      <dgm:prSet presAssocID="{27D807C7-4C47-44B0-8F22-0F95661F2CDF}" presName="linearFlow" presStyleCnt="0">
        <dgm:presLayoutVars>
          <dgm:resizeHandles val="exact"/>
        </dgm:presLayoutVars>
      </dgm:prSet>
      <dgm:spPr/>
    </dgm:pt>
    <dgm:pt modelId="{80307DA9-59B8-4B55-B73C-6679705029AD}" type="pres">
      <dgm:prSet presAssocID="{FC99CD1D-7749-44C5-A861-14581E3F6DCA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B9A4EE-4D7C-48AF-8C18-CA11CC4B2BB2}" type="pres">
      <dgm:prSet presAssocID="{F53FA68A-EEE4-43FB-922E-4D3D09B6734D}" presName="sibTrans" presStyleLbl="sibTrans2D1" presStyleIdx="0" presStyleCnt="5"/>
      <dgm:spPr/>
    </dgm:pt>
    <dgm:pt modelId="{0727F562-2A2E-4746-8D3E-D7ACD55D8160}" type="pres">
      <dgm:prSet presAssocID="{F53FA68A-EEE4-43FB-922E-4D3D09B6734D}" presName="connectorText" presStyleLbl="sibTrans2D1" presStyleIdx="0" presStyleCnt="5"/>
      <dgm:spPr/>
    </dgm:pt>
    <dgm:pt modelId="{D4BAD694-F572-4FF5-81FC-8E55BECF6FF8}" type="pres">
      <dgm:prSet presAssocID="{33C82A17-8BED-462A-B826-03DB395FB19F}" presName="node" presStyleLbl="node1" presStyleIdx="1" presStyleCnt="6">
        <dgm:presLayoutVars>
          <dgm:bulletEnabled val="1"/>
        </dgm:presLayoutVars>
      </dgm:prSet>
      <dgm:spPr/>
    </dgm:pt>
    <dgm:pt modelId="{5CCCDF25-23CE-4249-A0E4-769F0B6135C5}" type="pres">
      <dgm:prSet presAssocID="{36488A66-6B4B-497A-B94A-AE2A34782E1C}" presName="sibTrans" presStyleLbl="sibTrans2D1" presStyleIdx="1" presStyleCnt="5"/>
      <dgm:spPr/>
    </dgm:pt>
    <dgm:pt modelId="{6C907E7C-8409-4BD6-8C74-64B98B1C6ED6}" type="pres">
      <dgm:prSet presAssocID="{36488A66-6B4B-497A-B94A-AE2A34782E1C}" presName="connectorText" presStyleLbl="sibTrans2D1" presStyleIdx="1" presStyleCnt="5"/>
      <dgm:spPr/>
    </dgm:pt>
    <dgm:pt modelId="{EBAC8730-8C11-472C-929F-CE4460742A51}" type="pres">
      <dgm:prSet presAssocID="{E4EBBA2A-6450-4819-B034-F85B187F8869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BA3CC0-E63D-4E2D-81BA-6D71F52D75D3}" type="pres">
      <dgm:prSet presAssocID="{472B5184-F121-498D-B3E7-DBDF2B328AE2}" presName="sibTrans" presStyleLbl="sibTrans2D1" presStyleIdx="2" presStyleCnt="5"/>
      <dgm:spPr/>
    </dgm:pt>
    <dgm:pt modelId="{0A699B93-0F34-4D95-AFA8-0F2250314601}" type="pres">
      <dgm:prSet presAssocID="{472B5184-F121-498D-B3E7-DBDF2B328AE2}" presName="connectorText" presStyleLbl="sibTrans2D1" presStyleIdx="2" presStyleCnt="5"/>
      <dgm:spPr/>
    </dgm:pt>
    <dgm:pt modelId="{6A50366E-DEB8-4A70-96BD-921B359E5DF1}" type="pres">
      <dgm:prSet presAssocID="{886C6708-978A-48F4-A3F2-8F9AD3903753}" presName="node" presStyleLbl="node1" presStyleIdx="3" presStyleCnt="6">
        <dgm:presLayoutVars>
          <dgm:bulletEnabled val="1"/>
        </dgm:presLayoutVars>
      </dgm:prSet>
      <dgm:spPr/>
    </dgm:pt>
    <dgm:pt modelId="{AD93079F-5D4D-45F4-B0E9-319F95A598FB}" type="pres">
      <dgm:prSet presAssocID="{B88FAE65-F6E7-45B1-BA31-524A3684BDDF}" presName="sibTrans" presStyleLbl="sibTrans2D1" presStyleIdx="3" presStyleCnt="5"/>
      <dgm:spPr/>
    </dgm:pt>
    <dgm:pt modelId="{0B420CAE-DC5D-402D-883B-E40818AF6433}" type="pres">
      <dgm:prSet presAssocID="{B88FAE65-F6E7-45B1-BA31-524A3684BDDF}" presName="connectorText" presStyleLbl="sibTrans2D1" presStyleIdx="3" presStyleCnt="5"/>
      <dgm:spPr/>
    </dgm:pt>
    <dgm:pt modelId="{DBE94035-11BC-4BB3-BD67-F476046A99F0}" type="pres">
      <dgm:prSet presAssocID="{B73E886D-65C9-405B-A43B-77C335C042EA}" presName="node" presStyleLbl="node1" presStyleIdx="4" presStyleCnt="6">
        <dgm:presLayoutVars>
          <dgm:bulletEnabled val="1"/>
        </dgm:presLayoutVars>
      </dgm:prSet>
      <dgm:spPr/>
    </dgm:pt>
    <dgm:pt modelId="{9B5FCEB0-4737-4783-B8D7-A0415D52A96B}" type="pres">
      <dgm:prSet presAssocID="{C908879D-77C7-46EC-B2C3-D0820C94F566}" presName="sibTrans" presStyleLbl="sibTrans2D1" presStyleIdx="4" presStyleCnt="5"/>
      <dgm:spPr/>
    </dgm:pt>
    <dgm:pt modelId="{9F0786D8-FA4E-4F8E-8F5E-F9D1468BC0CB}" type="pres">
      <dgm:prSet presAssocID="{C908879D-77C7-46EC-B2C3-D0820C94F566}" presName="connectorText" presStyleLbl="sibTrans2D1" presStyleIdx="4" presStyleCnt="5"/>
      <dgm:spPr/>
    </dgm:pt>
    <dgm:pt modelId="{7C90DABB-F5A4-4F85-A510-65AB21AEB503}" type="pres">
      <dgm:prSet presAssocID="{F734A2DA-AA98-4DA1-823C-D2D09DC67AFA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85101BE-3ADC-478A-B982-C385656F7B44}" srcId="{27D807C7-4C47-44B0-8F22-0F95661F2CDF}" destId="{33C82A17-8BED-462A-B826-03DB395FB19F}" srcOrd="1" destOrd="0" parTransId="{8107DCE3-F4B2-4814-A8F4-2F73AC5B1463}" sibTransId="{36488A66-6B4B-497A-B94A-AE2A34782E1C}"/>
    <dgm:cxn modelId="{8685AEA1-F319-4024-B68B-EE8DA80AD0C5}" type="presOf" srcId="{36488A66-6B4B-497A-B94A-AE2A34782E1C}" destId="{6C907E7C-8409-4BD6-8C74-64B98B1C6ED6}" srcOrd="1" destOrd="0" presId="urn:microsoft.com/office/officeart/2005/8/layout/process2"/>
    <dgm:cxn modelId="{0FAE270F-B0AD-445A-8C01-05712C2D6C4D}" type="presOf" srcId="{F734A2DA-AA98-4DA1-823C-D2D09DC67AFA}" destId="{7C90DABB-F5A4-4F85-A510-65AB21AEB503}" srcOrd="0" destOrd="0" presId="urn:microsoft.com/office/officeart/2005/8/layout/process2"/>
    <dgm:cxn modelId="{9446A37A-F6F1-4F59-8CF0-EB790968B60D}" type="presOf" srcId="{C908879D-77C7-46EC-B2C3-D0820C94F566}" destId="{9B5FCEB0-4737-4783-B8D7-A0415D52A96B}" srcOrd="0" destOrd="0" presId="urn:microsoft.com/office/officeart/2005/8/layout/process2"/>
    <dgm:cxn modelId="{A8FF83C5-BD0C-46BD-BEBB-01E5FC5591CD}" type="presOf" srcId="{B88FAE65-F6E7-45B1-BA31-524A3684BDDF}" destId="{AD93079F-5D4D-45F4-B0E9-319F95A598FB}" srcOrd="0" destOrd="0" presId="urn:microsoft.com/office/officeart/2005/8/layout/process2"/>
    <dgm:cxn modelId="{6BF3B75A-88C2-4033-B136-B407BCDA0359}" type="presOf" srcId="{B73E886D-65C9-405B-A43B-77C335C042EA}" destId="{DBE94035-11BC-4BB3-BD67-F476046A99F0}" srcOrd="0" destOrd="0" presId="urn:microsoft.com/office/officeart/2005/8/layout/process2"/>
    <dgm:cxn modelId="{E613B504-B589-4E81-BB9F-11184B7C5CBB}" type="presOf" srcId="{F53FA68A-EEE4-43FB-922E-4D3D09B6734D}" destId="{0727F562-2A2E-4746-8D3E-D7ACD55D8160}" srcOrd="1" destOrd="0" presId="urn:microsoft.com/office/officeart/2005/8/layout/process2"/>
    <dgm:cxn modelId="{E3C8571F-04E2-4BE7-9A58-A21DF9562332}" type="presOf" srcId="{886C6708-978A-48F4-A3F2-8F9AD3903753}" destId="{6A50366E-DEB8-4A70-96BD-921B359E5DF1}" srcOrd="0" destOrd="0" presId="urn:microsoft.com/office/officeart/2005/8/layout/process2"/>
    <dgm:cxn modelId="{9342F4B9-DC8A-4029-B367-94198B09E67B}" type="presOf" srcId="{B88FAE65-F6E7-45B1-BA31-524A3684BDDF}" destId="{0B420CAE-DC5D-402D-883B-E40818AF6433}" srcOrd="1" destOrd="0" presId="urn:microsoft.com/office/officeart/2005/8/layout/process2"/>
    <dgm:cxn modelId="{878A455F-8247-46EA-980B-03E93A319E2D}" type="presOf" srcId="{33C82A17-8BED-462A-B826-03DB395FB19F}" destId="{D4BAD694-F572-4FF5-81FC-8E55BECF6FF8}" srcOrd="0" destOrd="0" presId="urn:microsoft.com/office/officeart/2005/8/layout/process2"/>
    <dgm:cxn modelId="{8AE8ED77-1FBA-4F53-B200-0814E3E72842}" type="presOf" srcId="{FC99CD1D-7749-44C5-A861-14581E3F6DCA}" destId="{80307DA9-59B8-4B55-B73C-6679705029AD}" srcOrd="0" destOrd="0" presId="urn:microsoft.com/office/officeart/2005/8/layout/process2"/>
    <dgm:cxn modelId="{A0FD6960-DB10-4D3A-AE42-5488F89F5BB3}" type="presOf" srcId="{E4EBBA2A-6450-4819-B034-F85B187F8869}" destId="{EBAC8730-8C11-472C-929F-CE4460742A51}" srcOrd="0" destOrd="0" presId="urn:microsoft.com/office/officeart/2005/8/layout/process2"/>
    <dgm:cxn modelId="{527FD6BE-3A4A-4F78-8913-B800503BF75F}" srcId="{27D807C7-4C47-44B0-8F22-0F95661F2CDF}" destId="{E4EBBA2A-6450-4819-B034-F85B187F8869}" srcOrd="2" destOrd="0" parTransId="{1823395B-D911-4CBF-A64B-253FF89F1340}" sibTransId="{472B5184-F121-498D-B3E7-DBDF2B328AE2}"/>
    <dgm:cxn modelId="{55F2E6D1-E979-4234-8A1A-9CA82472DCDC}" type="presOf" srcId="{472B5184-F121-498D-B3E7-DBDF2B328AE2}" destId="{83BA3CC0-E63D-4E2D-81BA-6D71F52D75D3}" srcOrd="0" destOrd="0" presId="urn:microsoft.com/office/officeart/2005/8/layout/process2"/>
    <dgm:cxn modelId="{5B6CC828-7468-4CB6-9C93-D147B749272C}" type="presOf" srcId="{36488A66-6B4B-497A-B94A-AE2A34782E1C}" destId="{5CCCDF25-23CE-4249-A0E4-769F0B6135C5}" srcOrd="0" destOrd="0" presId="urn:microsoft.com/office/officeart/2005/8/layout/process2"/>
    <dgm:cxn modelId="{8EF985B9-DD13-4382-8EDA-A0EB098D4137}" srcId="{27D807C7-4C47-44B0-8F22-0F95661F2CDF}" destId="{B73E886D-65C9-405B-A43B-77C335C042EA}" srcOrd="4" destOrd="0" parTransId="{CA8C9AAD-57F4-471B-AC36-A0D6BC677684}" sibTransId="{C908879D-77C7-46EC-B2C3-D0820C94F566}"/>
    <dgm:cxn modelId="{187B0B97-AF10-42B2-95EC-23028E36F9C4}" type="presOf" srcId="{F53FA68A-EEE4-43FB-922E-4D3D09B6734D}" destId="{98B9A4EE-4D7C-48AF-8C18-CA11CC4B2BB2}" srcOrd="0" destOrd="0" presId="urn:microsoft.com/office/officeart/2005/8/layout/process2"/>
    <dgm:cxn modelId="{FCBC79DC-02B9-4D40-B269-CA589C87BCF1}" srcId="{27D807C7-4C47-44B0-8F22-0F95661F2CDF}" destId="{F734A2DA-AA98-4DA1-823C-D2D09DC67AFA}" srcOrd="5" destOrd="0" parTransId="{5282F105-D405-49E4-BDBF-6B5F25B2FD65}" sibTransId="{51FFB55E-C918-4E4A-AF11-B6E3CFF24D24}"/>
    <dgm:cxn modelId="{FAFE0A85-DC7B-47E3-91EA-C05576A14CB9}" type="presOf" srcId="{C908879D-77C7-46EC-B2C3-D0820C94F566}" destId="{9F0786D8-FA4E-4F8E-8F5E-F9D1468BC0CB}" srcOrd="1" destOrd="0" presId="urn:microsoft.com/office/officeart/2005/8/layout/process2"/>
    <dgm:cxn modelId="{13FB8EBB-F3AF-433F-93FA-CD0FE33DA28A}" type="presOf" srcId="{27D807C7-4C47-44B0-8F22-0F95661F2CDF}" destId="{357CC326-A40D-4166-A7ED-E9C4D4A1CF0E}" srcOrd="0" destOrd="0" presId="urn:microsoft.com/office/officeart/2005/8/layout/process2"/>
    <dgm:cxn modelId="{427A25BB-3511-484A-AEC9-F47137A91C6A}" srcId="{27D807C7-4C47-44B0-8F22-0F95661F2CDF}" destId="{886C6708-978A-48F4-A3F2-8F9AD3903753}" srcOrd="3" destOrd="0" parTransId="{2B06540D-2283-4F6E-A595-0D641F42524A}" sibTransId="{B88FAE65-F6E7-45B1-BA31-524A3684BDDF}"/>
    <dgm:cxn modelId="{8FE77F47-EBEF-4735-95C2-B18F5A5F9402}" type="presOf" srcId="{472B5184-F121-498D-B3E7-DBDF2B328AE2}" destId="{0A699B93-0F34-4D95-AFA8-0F2250314601}" srcOrd="1" destOrd="0" presId="urn:microsoft.com/office/officeart/2005/8/layout/process2"/>
    <dgm:cxn modelId="{5F9CA582-45E6-41C0-9578-49BE747487C6}" srcId="{27D807C7-4C47-44B0-8F22-0F95661F2CDF}" destId="{FC99CD1D-7749-44C5-A861-14581E3F6DCA}" srcOrd="0" destOrd="0" parTransId="{81D66883-08D6-4280-8CF8-015330237ABD}" sibTransId="{F53FA68A-EEE4-43FB-922E-4D3D09B6734D}"/>
    <dgm:cxn modelId="{20F92F78-D057-4335-9E8C-3F6B97973DF5}" type="presParOf" srcId="{357CC326-A40D-4166-A7ED-E9C4D4A1CF0E}" destId="{80307DA9-59B8-4B55-B73C-6679705029AD}" srcOrd="0" destOrd="0" presId="urn:microsoft.com/office/officeart/2005/8/layout/process2"/>
    <dgm:cxn modelId="{E3BEA8EF-8B96-4A16-9630-7EB0F2DA4EC8}" type="presParOf" srcId="{357CC326-A40D-4166-A7ED-E9C4D4A1CF0E}" destId="{98B9A4EE-4D7C-48AF-8C18-CA11CC4B2BB2}" srcOrd="1" destOrd="0" presId="urn:microsoft.com/office/officeart/2005/8/layout/process2"/>
    <dgm:cxn modelId="{10091991-8CDE-4978-8F85-9D3084FE6358}" type="presParOf" srcId="{98B9A4EE-4D7C-48AF-8C18-CA11CC4B2BB2}" destId="{0727F562-2A2E-4746-8D3E-D7ACD55D8160}" srcOrd="0" destOrd="0" presId="urn:microsoft.com/office/officeart/2005/8/layout/process2"/>
    <dgm:cxn modelId="{A73CFE84-DB02-40A1-8C89-8F60D5894A69}" type="presParOf" srcId="{357CC326-A40D-4166-A7ED-E9C4D4A1CF0E}" destId="{D4BAD694-F572-4FF5-81FC-8E55BECF6FF8}" srcOrd="2" destOrd="0" presId="urn:microsoft.com/office/officeart/2005/8/layout/process2"/>
    <dgm:cxn modelId="{22FE35F3-1110-430D-87E7-78C223CC7795}" type="presParOf" srcId="{357CC326-A40D-4166-A7ED-E9C4D4A1CF0E}" destId="{5CCCDF25-23CE-4249-A0E4-769F0B6135C5}" srcOrd="3" destOrd="0" presId="urn:microsoft.com/office/officeart/2005/8/layout/process2"/>
    <dgm:cxn modelId="{550E401D-8C5C-4032-BA8B-AFFD3D45D66A}" type="presParOf" srcId="{5CCCDF25-23CE-4249-A0E4-769F0B6135C5}" destId="{6C907E7C-8409-4BD6-8C74-64B98B1C6ED6}" srcOrd="0" destOrd="0" presId="urn:microsoft.com/office/officeart/2005/8/layout/process2"/>
    <dgm:cxn modelId="{2FAB3F35-5453-4642-BFE9-925E6FE12A58}" type="presParOf" srcId="{357CC326-A40D-4166-A7ED-E9C4D4A1CF0E}" destId="{EBAC8730-8C11-472C-929F-CE4460742A51}" srcOrd="4" destOrd="0" presId="urn:microsoft.com/office/officeart/2005/8/layout/process2"/>
    <dgm:cxn modelId="{CB12C9B4-16BF-4606-BD47-49523A1E651B}" type="presParOf" srcId="{357CC326-A40D-4166-A7ED-E9C4D4A1CF0E}" destId="{83BA3CC0-E63D-4E2D-81BA-6D71F52D75D3}" srcOrd="5" destOrd="0" presId="urn:microsoft.com/office/officeart/2005/8/layout/process2"/>
    <dgm:cxn modelId="{B0592D03-58F9-413E-A227-E110223AC4FB}" type="presParOf" srcId="{83BA3CC0-E63D-4E2D-81BA-6D71F52D75D3}" destId="{0A699B93-0F34-4D95-AFA8-0F2250314601}" srcOrd="0" destOrd="0" presId="urn:microsoft.com/office/officeart/2005/8/layout/process2"/>
    <dgm:cxn modelId="{BFB4F9CB-D3D5-4AEB-8B80-2B824B3DF03D}" type="presParOf" srcId="{357CC326-A40D-4166-A7ED-E9C4D4A1CF0E}" destId="{6A50366E-DEB8-4A70-96BD-921B359E5DF1}" srcOrd="6" destOrd="0" presId="urn:microsoft.com/office/officeart/2005/8/layout/process2"/>
    <dgm:cxn modelId="{91B8B13F-071B-4BE3-B040-AEB091CBFC7A}" type="presParOf" srcId="{357CC326-A40D-4166-A7ED-E9C4D4A1CF0E}" destId="{AD93079F-5D4D-45F4-B0E9-319F95A598FB}" srcOrd="7" destOrd="0" presId="urn:microsoft.com/office/officeart/2005/8/layout/process2"/>
    <dgm:cxn modelId="{A656B198-9614-4D23-9578-CD47A9AD8200}" type="presParOf" srcId="{AD93079F-5D4D-45F4-B0E9-319F95A598FB}" destId="{0B420CAE-DC5D-402D-883B-E40818AF6433}" srcOrd="0" destOrd="0" presId="urn:microsoft.com/office/officeart/2005/8/layout/process2"/>
    <dgm:cxn modelId="{3EA96D07-29BF-488E-B074-9394FC667C14}" type="presParOf" srcId="{357CC326-A40D-4166-A7ED-E9C4D4A1CF0E}" destId="{DBE94035-11BC-4BB3-BD67-F476046A99F0}" srcOrd="8" destOrd="0" presId="urn:microsoft.com/office/officeart/2005/8/layout/process2"/>
    <dgm:cxn modelId="{D7A08B66-931C-4065-B651-4DFD87F5D519}" type="presParOf" srcId="{357CC326-A40D-4166-A7ED-E9C4D4A1CF0E}" destId="{9B5FCEB0-4737-4783-B8D7-A0415D52A96B}" srcOrd="9" destOrd="0" presId="urn:microsoft.com/office/officeart/2005/8/layout/process2"/>
    <dgm:cxn modelId="{46014F79-F3DB-4278-A1A0-71764F7E7887}" type="presParOf" srcId="{9B5FCEB0-4737-4783-B8D7-A0415D52A96B}" destId="{9F0786D8-FA4E-4F8E-8F5E-F9D1468BC0CB}" srcOrd="0" destOrd="0" presId="urn:microsoft.com/office/officeart/2005/8/layout/process2"/>
    <dgm:cxn modelId="{608C4AA8-9073-4EC5-9293-20095FB96F4A}" type="presParOf" srcId="{357CC326-A40D-4166-A7ED-E9C4D4A1CF0E}" destId="{7C90DABB-F5A4-4F85-A510-65AB21AEB50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0307DA9-59B8-4B55-B73C-6679705029AD}">
      <dsp:nvSpPr>
        <dsp:cNvPr id="0" name=""/>
        <dsp:cNvSpPr/>
      </dsp:nvSpPr>
      <dsp:spPr>
        <a:xfrm>
          <a:off x="3495112" y="1829"/>
          <a:ext cx="1696574" cy="542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</a:rPr>
            <a:t>Raw Dataset</a:t>
          </a:r>
          <a:endParaRPr lang="en-US" sz="1500" kern="1200" dirty="0">
            <a:latin typeface="+mj-lt"/>
          </a:endParaRPr>
        </a:p>
      </dsp:txBody>
      <dsp:txXfrm>
        <a:off x="3495112" y="1829"/>
        <a:ext cx="1696574" cy="542056"/>
      </dsp:txXfrm>
    </dsp:sp>
    <dsp:sp modelId="{98B9A4EE-4D7C-48AF-8C18-CA11CC4B2BB2}">
      <dsp:nvSpPr>
        <dsp:cNvPr id="0" name=""/>
        <dsp:cNvSpPr/>
      </dsp:nvSpPr>
      <dsp:spPr>
        <a:xfrm rot="5400000">
          <a:off x="4241764" y="557437"/>
          <a:ext cx="203271" cy="2439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>
            <a:latin typeface="+mj-lt"/>
          </a:endParaRPr>
        </a:p>
      </dsp:txBody>
      <dsp:txXfrm rot="5400000">
        <a:off x="4241764" y="557437"/>
        <a:ext cx="203271" cy="243925"/>
      </dsp:txXfrm>
    </dsp:sp>
    <dsp:sp modelId="{D4BAD694-F572-4FF5-81FC-8E55BECF6FF8}">
      <dsp:nvSpPr>
        <dsp:cNvPr id="0" name=""/>
        <dsp:cNvSpPr/>
      </dsp:nvSpPr>
      <dsp:spPr>
        <a:xfrm>
          <a:off x="3495112" y="814914"/>
          <a:ext cx="1696574" cy="542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</a:rPr>
            <a:t>Python Data Cleaning</a:t>
          </a:r>
          <a:endParaRPr lang="en-US" sz="1500" kern="1200" dirty="0">
            <a:latin typeface="+mj-lt"/>
          </a:endParaRPr>
        </a:p>
      </dsp:txBody>
      <dsp:txXfrm>
        <a:off x="3495112" y="814914"/>
        <a:ext cx="1696574" cy="542056"/>
      </dsp:txXfrm>
    </dsp:sp>
    <dsp:sp modelId="{5CCCDF25-23CE-4249-A0E4-769F0B6135C5}">
      <dsp:nvSpPr>
        <dsp:cNvPr id="0" name=""/>
        <dsp:cNvSpPr/>
      </dsp:nvSpPr>
      <dsp:spPr>
        <a:xfrm rot="5400000">
          <a:off x="4241764" y="1370522"/>
          <a:ext cx="203271" cy="2439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>
            <a:latin typeface="+mj-lt"/>
          </a:endParaRPr>
        </a:p>
      </dsp:txBody>
      <dsp:txXfrm rot="5400000">
        <a:off x="4241764" y="1370522"/>
        <a:ext cx="203271" cy="243925"/>
      </dsp:txXfrm>
    </dsp:sp>
    <dsp:sp modelId="{EBAC8730-8C11-472C-929F-CE4460742A51}">
      <dsp:nvSpPr>
        <dsp:cNvPr id="0" name=""/>
        <dsp:cNvSpPr/>
      </dsp:nvSpPr>
      <dsp:spPr>
        <a:xfrm>
          <a:off x="3495112" y="1627999"/>
          <a:ext cx="1696574" cy="542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</a:rPr>
            <a:t>Excel Analysis</a:t>
          </a:r>
          <a:endParaRPr lang="en-US" sz="1500" kern="1200" dirty="0">
            <a:latin typeface="+mj-lt"/>
          </a:endParaRPr>
        </a:p>
      </dsp:txBody>
      <dsp:txXfrm>
        <a:off x="3495112" y="1627999"/>
        <a:ext cx="1696574" cy="542056"/>
      </dsp:txXfrm>
    </dsp:sp>
    <dsp:sp modelId="{83BA3CC0-E63D-4E2D-81BA-6D71F52D75D3}">
      <dsp:nvSpPr>
        <dsp:cNvPr id="0" name=""/>
        <dsp:cNvSpPr/>
      </dsp:nvSpPr>
      <dsp:spPr>
        <a:xfrm rot="5400000">
          <a:off x="4241764" y="2183607"/>
          <a:ext cx="203271" cy="2439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>
            <a:latin typeface="+mj-lt"/>
          </a:endParaRPr>
        </a:p>
      </dsp:txBody>
      <dsp:txXfrm rot="5400000">
        <a:off x="4241764" y="2183607"/>
        <a:ext cx="203271" cy="243925"/>
      </dsp:txXfrm>
    </dsp:sp>
    <dsp:sp modelId="{6A50366E-DEB8-4A70-96BD-921B359E5DF1}">
      <dsp:nvSpPr>
        <dsp:cNvPr id="0" name=""/>
        <dsp:cNvSpPr/>
      </dsp:nvSpPr>
      <dsp:spPr>
        <a:xfrm>
          <a:off x="3495112" y="2441084"/>
          <a:ext cx="1696574" cy="542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</a:rPr>
            <a:t>SQL Queries</a:t>
          </a:r>
          <a:endParaRPr lang="en-US" sz="1500" kern="1200" dirty="0">
            <a:latin typeface="+mj-lt"/>
          </a:endParaRPr>
        </a:p>
      </dsp:txBody>
      <dsp:txXfrm>
        <a:off x="3495112" y="2441084"/>
        <a:ext cx="1696574" cy="542056"/>
      </dsp:txXfrm>
    </dsp:sp>
    <dsp:sp modelId="{AD93079F-5D4D-45F4-B0E9-319F95A598FB}">
      <dsp:nvSpPr>
        <dsp:cNvPr id="0" name=""/>
        <dsp:cNvSpPr/>
      </dsp:nvSpPr>
      <dsp:spPr>
        <a:xfrm rot="5400000">
          <a:off x="4241764" y="2996692"/>
          <a:ext cx="203271" cy="2439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>
            <a:latin typeface="+mj-lt"/>
          </a:endParaRPr>
        </a:p>
      </dsp:txBody>
      <dsp:txXfrm rot="5400000">
        <a:off x="4241764" y="2996692"/>
        <a:ext cx="203271" cy="243925"/>
      </dsp:txXfrm>
    </dsp:sp>
    <dsp:sp modelId="{DBE94035-11BC-4BB3-BD67-F476046A99F0}">
      <dsp:nvSpPr>
        <dsp:cNvPr id="0" name=""/>
        <dsp:cNvSpPr/>
      </dsp:nvSpPr>
      <dsp:spPr>
        <a:xfrm>
          <a:off x="3495112" y="3254169"/>
          <a:ext cx="1696574" cy="542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</a:rPr>
            <a:t>Power BI Dashboard</a:t>
          </a:r>
          <a:endParaRPr lang="en-US" sz="1500" kern="1200" dirty="0">
            <a:latin typeface="+mj-lt"/>
          </a:endParaRPr>
        </a:p>
      </dsp:txBody>
      <dsp:txXfrm>
        <a:off x="3495112" y="3254169"/>
        <a:ext cx="1696574" cy="542056"/>
      </dsp:txXfrm>
    </dsp:sp>
    <dsp:sp modelId="{9B5FCEB0-4737-4783-B8D7-A0415D52A96B}">
      <dsp:nvSpPr>
        <dsp:cNvPr id="0" name=""/>
        <dsp:cNvSpPr/>
      </dsp:nvSpPr>
      <dsp:spPr>
        <a:xfrm rot="5400000">
          <a:off x="4241764" y="3809777"/>
          <a:ext cx="203271" cy="2439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>
            <a:latin typeface="+mj-lt"/>
          </a:endParaRPr>
        </a:p>
      </dsp:txBody>
      <dsp:txXfrm rot="5400000">
        <a:off x="4241764" y="3809777"/>
        <a:ext cx="203271" cy="243925"/>
      </dsp:txXfrm>
    </dsp:sp>
    <dsp:sp modelId="{7C90DABB-F5A4-4F85-A510-65AB21AEB503}">
      <dsp:nvSpPr>
        <dsp:cNvPr id="0" name=""/>
        <dsp:cNvSpPr/>
      </dsp:nvSpPr>
      <dsp:spPr>
        <a:xfrm>
          <a:off x="3495112" y="4067254"/>
          <a:ext cx="1696574" cy="542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+mj-lt"/>
            </a:rPr>
            <a:t>Insights &amp; Recommendations</a:t>
          </a:r>
          <a:endParaRPr lang="en-US" sz="1500" kern="1200" dirty="0">
            <a:latin typeface="+mj-lt"/>
          </a:endParaRPr>
        </a:p>
      </dsp:txBody>
      <dsp:txXfrm>
        <a:off x="3495112" y="4067254"/>
        <a:ext cx="1696574" cy="542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l" eaLnBrk="1" latinLnBrk="0" hangingPunct="1"/>
            <a:fld id="{74CBEAF9-9E58-4CC8-A6FF-6DD8A58DEEA4}" type="datetimeFigureOut">
              <a:rPr lang="en-US" smtClean="0"/>
              <a:pPr algn="l" eaLnBrk="1" latinLnBrk="0" hangingPunct="1"/>
              <a:t>5/27/2026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692697"/>
            <a:ext cx="8458200" cy="2088231"/>
          </a:xfrm>
        </p:spPr>
        <p:txBody>
          <a:bodyPr>
            <a:noAutofit/>
          </a:bodyPr>
          <a:lstStyle/>
          <a:p>
            <a:pPr algn="ctr"/>
            <a:r>
              <a:rPr lang="en-US" sz="4400" dirty="0" smtClean="0">
                <a:solidFill>
                  <a:srgbClr val="ED51DA"/>
                </a:solidFill>
                <a:latin typeface="Britannic Bold" pitchFamily="34" charset="0"/>
              </a:rPr>
              <a:t>AMAZON ORDERS DATA ANALYSIS PROJECT</a:t>
            </a:r>
            <a:endParaRPr lang="en-US" sz="4400" dirty="0">
              <a:solidFill>
                <a:srgbClr val="ED51DA"/>
              </a:solidFill>
              <a:latin typeface="Britannic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08920"/>
            <a:ext cx="8458200" cy="720080"/>
          </a:xfrm>
        </p:spPr>
        <p:txBody>
          <a:bodyPr/>
          <a:lstStyle/>
          <a:p>
            <a:r>
              <a:rPr lang="en-US" b="1" dirty="0" smtClean="0"/>
              <a:t>Using  Python, Excel, SQL, and Power BI                                                                                                            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156176" y="4077072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Presented By:-</a:t>
            </a:r>
          </a:p>
          <a:p>
            <a:r>
              <a:rPr lang="en-US" dirty="0" err="1" smtClean="0">
                <a:solidFill>
                  <a:srgbClr val="7030A0"/>
                </a:solidFill>
              </a:rPr>
              <a:t>Sherin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en-US" dirty="0" err="1" smtClean="0">
                <a:solidFill>
                  <a:srgbClr val="7030A0"/>
                </a:solidFill>
              </a:rPr>
              <a:t>Kousar</a:t>
            </a:r>
            <a:r>
              <a:rPr lang="en-US" dirty="0" smtClean="0">
                <a:solidFill>
                  <a:srgbClr val="7030A0"/>
                </a:solidFill>
              </a:rPr>
              <a:t>.</a:t>
            </a:r>
            <a:endParaRPr 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4555976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rgbClr val="00B050"/>
                </a:solidFill>
                <a:latin typeface="Britannic Bold" pitchFamily="34" charset="0"/>
              </a:rPr>
              <a:t>PROJECT OVERVIEW</a:t>
            </a:r>
            <a:endParaRPr lang="en-US" sz="4400" dirty="0">
              <a:solidFill>
                <a:srgbClr val="00B05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+mj-lt"/>
              </a:rPr>
              <a:t>Objective</a:t>
            </a:r>
          </a:p>
          <a:p>
            <a:pPr>
              <a:buNone/>
            </a:pPr>
            <a:r>
              <a:rPr lang="en-US" sz="2400" dirty="0" smtClean="0">
                <a:latin typeface="+mj-lt"/>
              </a:rPr>
              <a:t>To analyze Amazon orders data and identify business insights related to: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Sales trends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Customer behavior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Revenue generation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Shipping performance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cancellations</a:t>
            </a:r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</a:rPr>
              <a:t>Dataset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err="1" smtClean="0">
                <a:latin typeface="+mj-lt"/>
              </a:rPr>
              <a:t>Approx</a:t>
            </a:r>
            <a:r>
              <a:rPr lang="fr-FR" sz="2400" dirty="0" smtClean="0">
                <a:latin typeface="+mj-lt"/>
              </a:rPr>
              <a:t>. 128K records </a:t>
            </a:r>
            <a:endParaRPr lang="fr-FR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fr-FR" sz="2400" dirty="0" smtClean="0">
                <a:latin typeface="+mj-lt"/>
              </a:rPr>
              <a:t>E-commerce </a:t>
            </a:r>
            <a:r>
              <a:rPr lang="fr-FR" sz="2400" dirty="0" err="1" smtClean="0">
                <a:latin typeface="+mj-lt"/>
              </a:rPr>
              <a:t>transactional</a:t>
            </a:r>
            <a:r>
              <a:rPr lang="fr-FR" sz="2400" dirty="0" smtClean="0">
                <a:latin typeface="+mj-lt"/>
              </a:rPr>
              <a:t> </a:t>
            </a:r>
            <a:r>
              <a:rPr lang="fr-FR" sz="2400" dirty="0" err="1" smtClean="0">
                <a:latin typeface="+mj-lt"/>
              </a:rPr>
              <a:t>dataset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+mj-lt"/>
              </a:rPr>
              <a:t>Tools Used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7624" y="2662312"/>
          <a:ext cx="6096000" cy="2566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5133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Tools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</a:tr>
              <a:tr h="5133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Python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 Cleaning</a:t>
                      </a:r>
                      <a:endParaRPr lang="en-US" dirty="0"/>
                    </a:p>
                  </a:txBody>
                  <a:tcPr/>
                </a:tc>
              </a:tr>
              <a:tr h="5133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Excel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Pivot Tables</a:t>
                      </a:r>
                      <a:endParaRPr lang="en-US" dirty="0"/>
                    </a:p>
                  </a:txBody>
                  <a:tcPr/>
                </a:tc>
              </a:tr>
              <a:tr h="5133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Query Analysis</a:t>
                      </a:r>
                      <a:endParaRPr lang="en-US" dirty="0"/>
                    </a:p>
                  </a:txBody>
                  <a:tcPr/>
                </a:tc>
              </a:tr>
              <a:tr h="5133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 BI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Dashboard &amp; Visualization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4483968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rgbClr val="00B050"/>
                </a:solidFill>
                <a:latin typeface="Britannic Bold" pitchFamily="34" charset="0"/>
              </a:rPr>
              <a:t>WORKFLOW / PROCESS</a:t>
            </a:r>
            <a:endParaRPr lang="en-US" sz="4400" dirty="0">
              <a:solidFill>
                <a:srgbClr val="00B05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PROJECT WORKFLOW</a:t>
            </a:r>
            <a:endParaRPr lang="en-US" dirty="0">
              <a:solidFill>
                <a:srgbClr val="0070C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554162"/>
          <a:ext cx="8686800" cy="4611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457200"/>
            <a:ext cx="7416824" cy="4483968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rgbClr val="00B050"/>
                </a:solidFill>
                <a:latin typeface="Britannic Bold" pitchFamily="34" charset="0"/>
              </a:rPr>
              <a:t>POWER bi DASHBOARD OVERVIEW</a:t>
            </a:r>
            <a:endParaRPr lang="en-US" sz="4400" dirty="0">
              <a:solidFill>
                <a:srgbClr val="00B05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</a:rPr>
              <a:t>Dashboard Pages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Overview KPIs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Orders </a:t>
            </a:r>
            <a:r>
              <a:rPr lang="en-US" sz="2400" dirty="0" smtClean="0">
                <a:latin typeface="+mj-lt"/>
              </a:rPr>
              <a:t>Insights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Revenue </a:t>
            </a:r>
            <a:r>
              <a:rPr lang="en-US" sz="2400" dirty="0" smtClean="0">
                <a:latin typeface="+mj-lt"/>
              </a:rPr>
              <a:t>Analysis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General </a:t>
            </a:r>
            <a:r>
              <a:rPr lang="en-US" sz="2400" dirty="0" smtClean="0">
                <a:latin typeface="+mj-lt"/>
              </a:rPr>
              <a:t>Insights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Detailed </a:t>
            </a:r>
            <a:r>
              <a:rPr lang="en-US" sz="2400" dirty="0" smtClean="0">
                <a:latin typeface="+mj-lt"/>
              </a:rPr>
              <a:t>Orders Explorer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2026-05-27 15070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340768"/>
            <a:ext cx="4355975" cy="3168351"/>
          </a:xfrm>
        </p:spPr>
      </p:pic>
      <p:pic>
        <p:nvPicPr>
          <p:cNvPr id="5" name="Picture 4" descr="Screenshot 2026-05-27 150724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4008" y="2708920"/>
            <a:ext cx="4355976" cy="31932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520" y="4797152"/>
            <a:ext cx="3456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  <a:latin typeface="Arial Black" pitchFamily="34" charset="0"/>
              </a:rPr>
              <a:t>Order Insights Dashboard</a:t>
            </a:r>
            <a:endParaRPr lang="en-US" sz="2000" b="1" dirty="0">
              <a:solidFill>
                <a:srgbClr val="C00000"/>
              </a:solidFill>
              <a:latin typeface="Arial Black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2040" y="1988840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  <a:latin typeface="Arial Black" pitchFamily="34" charset="0"/>
              </a:rPr>
              <a:t>Revenue Insights Dashboard</a:t>
            </a:r>
            <a:endParaRPr lang="en-US" sz="2000" b="1" dirty="0">
              <a:solidFill>
                <a:srgbClr val="C0000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2026-05-27 15322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7504" y="1484784"/>
            <a:ext cx="4392488" cy="3312368"/>
          </a:xfrm>
        </p:spPr>
      </p:pic>
      <p:pic>
        <p:nvPicPr>
          <p:cNvPr id="5" name="Picture 4" descr="Screenshot 2026-05-27 153245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3429000"/>
            <a:ext cx="4427984" cy="3168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3528" y="5013176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  <a:latin typeface="Arial Black" pitchFamily="34" charset="0"/>
              </a:rPr>
              <a:t>General Insights Dashboard</a:t>
            </a:r>
            <a:endParaRPr lang="en-US" sz="2000" b="1" dirty="0">
              <a:solidFill>
                <a:srgbClr val="C00000"/>
              </a:solidFill>
              <a:latin typeface="Arial Black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48064" y="2420888"/>
            <a:ext cx="2880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  <a:latin typeface="Arial Black" pitchFamily="34" charset="0"/>
              </a:rPr>
              <a:t>Detailed Orders Explorer Dashboard</a:t>
            </a:r>
            <a:endParaRPr lang="en-US" sz="2000" b="1" dirty="0">
              <a:solidFill>
                <a:srgbClr val="C0000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5060032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rgbClr val="00B050"/>
                </a:solidFill>
                <a:latin typeface="Britannic Bold" pitchFamily="34" charset="0"/>
              </a:rPr>
              <a:t>KEY KPI METRICS</a:t>
            </a:r>
            <a:endParaRPr lang="en-US" sz="4400" b="1" dirty="0">
              <a:solidFill>
                <a:srgbClr val="00B05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554160"/>
          <a:ext cx="8686800" cy="3459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343400"/>
              </a:tblGrid>
              <a:tr h="69180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</a:tr>
              <a:tr h="69180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 Orders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128,975</a:t>
                      </a:r>
                      <a:endParaRPr lang="en-US" dirty="0"/>
                    </a:p>
                  </a:txBody>
                  <a:tcPr/>
                </a:tc>
              </a:tr>
              <a:tr h="69180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 Revenue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83.64M</a:t>
                      </a:r>
                      <a:endParaRPr lang="en-US" dirty="0"/>
                    </a:p>
                  </a:txBody>
                  <a:tcPr/>
                </a:tc>
              </a:tr>
              <a:tr h="69180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Average</a:t>
                      </a:r>
                      <a:r>
                        <a:rPr lang="en-US" baseline="0" dirty="0" smtClean="0"/>
                        <a:t> Order Amount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643.51</a:t>
                      </a:r>
                      <a:endParaRPr lang="en-US" dirty="0"/>
                    </a:p>
                  </a:txBody>
                  <a:tcPr/>
                </a:tc>
              </a:tr>
              <a:tr h="69180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Cancellation 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14.21%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Overview </a:t>
            </a:r>
            <a:r>
              <a:rPr lang="en-US" dirty="0" err="1" smtClean="0">
                <a:solidFill>
                  <a:srgbClr val="0070C0"/>
                </a:solidFill>
              </a:rPr>
              <a:t>kpi’s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6" name="Content Placeholder 5" descr="Screenshot 2026-05-27 150638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01063" y="1554163"/>
            <a:ext cx="8094274" cy="452596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4844008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rgbClr val="00B050"/>
                </a:solidFill>
                <a:latin typeface="Britannic Bold" pitchFamily="34" charset="0"/>
              </a:rPr>
              <a:t>KEY BUSINESS INSIGHTS</a:t>
            </a:r>
            <a:endParaRPr lang="en-US" sz="4400" b="1" dirty="0">
              <a:solidFill>
                <a:srgbClr val="00B05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</a:rPr>
              <a:t>Key Insights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Set category generated highest revenue.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Metro </a:t>
            </a:r>
            <a:r>
              <a:rPr lang="en-US" sz="2400" dirty="0" smtClean="0">
                <a:latin typeface="+mj-lt"/>
              </a:rPr>
              <a:t>cities contributed maximum sales</a:t>
            </a:r>
            <a:r>
              <a:rPr lang="en-US" sz="2400" dirty="0" smtClean="0">
                <a:latin typeface="+mj-lt"/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Promotions positively influenced order amounts.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Medium </a:t>
            </a:r>
            <a:r>
              <a:rPr lang="en-US" sz="2400" dirty="0" smtClean="0">
                <a:latin typeface="+mj-lt"/>
              </a:rPr>
              <a:t>and Large sizes were most preferred.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Certain </a:t>
            </a:r>
            <a:r>
              <a:rPr lang="en-US" sz="2400" dirty="0" smtClean="0">
                <a:latin typeface="+mj-lt"/>
              </a:rPr>
              <a:t>categories showed higher cancellation rates.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4267944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 smtClean="0">
                <a:solidFill>
                  <a:srgbClr val="00B050"/>
                </a:solidFill>
                <a:latin typeface="Britannic Bold" pitchFamily="34" charset="0"/>
              </a:rPr>
              <a:t>BUSINESS STRATEGIES &amp; RECOMMENDATIONS</a:t>
            </a:r>
            <a:endParaRPr lang="en-US" sz="4400" b="1" dirty="0">
              <a:solidFill>
                <a:srgbClr val="00B05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</a:rPr>
              <a:t>Strategies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Focus inventory on high-performing </a:t>
            </a:r>
            <a:r>
              <a:rPr lang="en-US" sz="2400" dirty="0" smtClean="0">
                <a:latin typeface="+mj-lt"/>
              </a:rPr>
              <a:t>categories.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Improve </a:t>
            </a:r>
            <a:r>
              <a:rPr lang="en-US" sz="2400" dirty="0" smtClean="0">
                <a:latin typeface="+mj-lt"/>
              </a:rPr>
              <a:t>shipping and delivery </a:t>
            </a:r>
            <a:r>
              <a:rPr lang="en-US" sz="2400" dirty="0" smtClean="0">
                <a:latin typeface="+mj-lt"/>
              </a:rPr>
              <a:t>performance.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Reduce </a:t>
            </a:r>
            <a:r>
              <a:rPr lang="en-US" sz="2400" dirty="0" smtClean="0">
                <a:latin typeface="+mj-lt"/>
              </a:rPr>
              <a:t>cancellations through better size accuracy.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Use </a:t>
            </a:r>
            <a:r>
              <a:rPr lang="en-US" sz="2400" dirty="0" smtClean="0">
                <a:latin typeface="+mj-lt"/>
              </a:rPr>
              <a:t>targeted promotions and discounts.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Focus </a:t>
            </a:r>
            <a:r>
              <a:rPr lang="en-US" sz="2400" dirty="0" smtClean="0">
                <a:latin typeface="+mj-lt"/>
              </a:rPr>
              <a:t>marketing on high-revenue cities.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</a:rPr>
              <a:t>Recommendations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Improve customer experience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Optimize </a:t>
            </a:r>
            <a:r>
              <a:rPr lang="en-US" sz="2400" dirty="0" smtClean="0">
                <a:latin typeface="+mj-lt"/>
              </a:rPr>
              <a:t>logistics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Monitor </a:t>
            </a:r>
            <a:r>
              <a:rPr lang="en-US" sz="2400" dirty="0" smtClean="0">
                <a:latin typeface="+mj-lt"/>
              </a:rPr>
              <a:t>cancellation trends 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Enhance </a:t>
            </a:r>
            <a:r>
              <a:rPr lang="en-US" sz="2400" dirty="0" smtClean="0">
                <a:latin typeface="+mj-lt"/>
              </a:rPr>
              <a:t>product descriptions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462798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rgbClr val="00B050"/>
                </a:solidFill>
                <a:latin typeface="Britannic Bold" pitchFamily="34" charset="0"/>
              </a:rPr>
              <a:t>CONCLUSION</a:t>
            </a:r>
            <a:endParaRPr lang="en-US" sz="4400" b="1" dirty="0">
              <a:solidFill>
                <a:srgbClr val="00B05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CONCLUSION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This project successfully analyzed Amazon orders data using Python, Excel, SQL, and Power BI. The project identified important business trends related to sales, customer behavior, shipping services, promotions, and cancellations.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+mj-lt"/>
              </a:rPr>
              <a:t>The interactive dashboard and analytical insights can help businesses make better data-driven decisions and improve profitability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4339952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rgbClr val="00B050"/>
                </a:solidFill>
                <a:latin typeface="Britannic Bold" pitchFamily="34" charset="0"/>
              </a:rPr>
              <a:t>THANK YOU</a:t>
            </a:r>
            <a:endParaRPr lang="en-US" sz="4400" b="1" dirty="0">
              <a:solidFill>
                <a:srgbClr val="00B05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63</TotalTime>
  <Words>289</Words>
  <Application>Microsoft Office PowerPoint</Application>
  <PresentationFormat>On-screen Show (4:3)</PresentationFormat>
  <Paragraphs>82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Trek</vt:lpstr>
      <vt:lpstr>AMAZON ORDERS DATA ANALYSIS PROJECT</vt:lpstr>
      <vt:lpstr>PROJECT OVERVIEW</vt:lpstr>
      <vt:lpstr>Slide 3</vt:lpstr>
      <vt:lpstr>Slide 4</vt:lpstr>
      <vt:lpstr>Slide 5</vt:lpstr>
      <vt:lpstr>WORKFLOW / PROCESS</vt:lpstr>
      <vt:lpstr>PROJECT WORKFLOW</vt:lpstr>
      <vt:lpstr>POWER bi DASHBOARD OVERVIEW</vt:lpstr>
      <vt:lpstr>Slide 9</vt:lpstr>
      <vt:lpstr>Slide 10</vt:lpstr>
      <vt:lpstr>Slide 11</vt:lpstr>
      <vt:lpstr>KEY KPI METRICS</vt:lpstr>
      <vt:lpstr>Slide 13</vt:lpstr>
      <vt:lpstr>Overview kpi’s </vt:lpstr>
      <vt:lpstr>KEY BUSINESS INSIGHTS</vt:lpstr>
      <vt:lpstr>Slide 16</vt:lpstr>
      <vt:lpstr>BUSINESS STRATEGIES &amp; RECOMMENDATIONS</vt:lpstr>
      <vt:lpstr>Slide 18</vt:lpstr>
      <vt:lpstr>Slide 19</vt:lpstr>
      <vt:lpstr>CONCLUSION</vt:lpstr>
      <vt:lpstr>CONCLUSION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ORDERS DATA ANALYSIS PROJECT</dc:title>
  <dc:creator>Computers H</dc:creator>
  <cp:lastModifiedBy>Computers H</cp:lastModifiedBy>
  <cp:revision>7</cp:revision>
  <dcterms:created xsi:type="dcterms:W3CDTF">2026-05-27T09:06:22Z</dcterms:created>
  <dcterms:modified xsi:type="dcterms:W3CDTF">2026-05-27T10:09:52Z</dcterms:modified>
</cp:coreProperties>
</file>